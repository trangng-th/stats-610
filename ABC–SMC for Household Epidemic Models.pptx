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26"/>
  </p:notesMasterIdLst>
  <p:handoutMasterIdLst>
    <p:handoutMasterId r:id="rId27"/>
  </p:handoutMasterIdLst>
  <p:sldIdLst>
    <p:sldId id="261" r:id="rId5"/>
    <p:sldId id="273" r:id="rId6"/>
    <p:sldId id="331" r:id="rId7"/>
    <p:sldId id="315" r:id="rId8"/>
    <p:sldId id="317" r:id="rId9"/>
    <p:sldId id="329" r:id="rId10"/>
    <p:sldId id="328" r:id="rId11"/>
    <p:sldId id="286" r:id="rId12"/>
    <p:sldId id="332" r:id="rId13"/>
    <p:sldId id="335" r:id="rId14"/>
    <p:sldId id="314" r:id="rId15"/>
    <p:sldId id="318" r:id="rId16"/>
    <p:sldId id="319" r:id="rId17"/>
    <p:sldId id="322" r:id="rId18"/>
    <p:sldId id="325" r:id="rId19"/>
    <p:sldId id="326" r:id="rId20"/>
    <p:sldId id="333" r:id="rId21"/>
    <p:sldId id="327" r:id="rId22"/>
    <p:sldId id="324" r:id="rId23"/>
    <p:sldId id="321" r:id="rId24"/>
    <p:sldId id="33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4842" autoAdjust="0"/>
  </p:normalViewPr>
  <p:slideViewPr>
    <p:cSldViewPr>
      <p:cViewPr>
        <p:scale>
          <a:sx n="51" d="100"/>
          <a:sy n="51" d="100"/>
        </p:scale>
        <p:origin x="1188" y="-224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12/9/2025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12/9/2025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Motivation and Context</a:t>
                </a:r>
                <a:endParaRPr lang="en-US" dirty="0"/>
              </a:p>
              <a:p>
                <a:r>
                  <a:rPr lang="en-US" dirty="0"/>
                  <a:t>In modern biomedical research, </a:t>
                </a:r>
                <a:r>
                  <a:rPr lang="en-US" b="1" dirty="0"/>
                  <a:t>stochastic computer models</a:t>
                </a:r>
                <a:r>
                  <a:rPr lang="en-US" dirty="0"/>
                  <a:t> are essential for describing complex processes such as epidemic spread, signal transduction, and gene regulation.</a:t>
                </a:r>
              </a:p>
              <a:p>
                <a:endParaRPr lang="en-US" dirty="0"/>
              </a:p>
              <a:p>
                <a:r>
                  <a:rPr lang="en-US" dirty="0"/>
                  <a:t>For many systems, we do not have a single agreed-upon model: </a:t>
                </a:r>
                <a:r>
                  <a:rPr lang="en-US" b="1" dirty="0"/>
                  <a:t>several mechanistic hypotheses</a:t>
                </a:r>
                <a:r>
                  <a:rPr lang="en-US" dirty="0"/>
                  <a:t> are often plausible, and it is not obvious which one is best supported by the data.</a:t>
                </a:r>
              </a:p>
              <a:p>
                <a:endParaRPr lang="en-US" dirty="0"/>
              </a:p>
              <a:p>
                <a:r>
                  <a:rPr lang="en-US" dirty="0"/>
                  <a:t>This makes </a:t>
                </a:r>
                <a:r>
                  <a:rPr lang="en-US" b="1" dirty="0"/>
                  <a:t>model choice</a:t>
                </a:r>
                <a:r>
                  <a:rPr lang="en-US" dirty="0"/>
                  <a:t> a central statistical problem: we need principled methods for deciding which mechanistic model gives the most convincing explanation of the observations.</a:t>
                </a:r>
              </a:p>
              <a:p>
                <a:endParaRPr lang="en-US" dirty="0"/>
              </a:p>
              <a:p>
                <a:r>
                  <a:rPr lang="en-US" dirty="0"/>
                  <a:t>In systems biology and epidemiology, this is particularly challenging because</a:t>
                </a:r>
              </a:p>
              <a:p>
                <a:pPr lvl="1"/>
                <a:r>
                  <a:rPr lang="en-US" dirty="0"/>
                  <a:t>only a </a:t>
                </a:r>
                <a:r>
                  <a:rPr lang="en-US" b="1" dirty="0"/>
                  <a:t>limited subset of variables</a:t>
                </a:r>
                <a:r>
                  <a:rPr lang="en-US" dirty="0"/>
                  <a:t> can be measured,</a:t>
                </a:r>
              </a:p>
              <a:p>
                <a:pPr lvl="1"/>
                <a:r>
                  <a:rPr lang="en-US" dirty="0"/>
                  <a:t>observations are </a:t>
                </a:r>
                <a:r>
                  <a:rPr lang="en-US" b="1" dirty="0"/>
                  <a:t>noisy and incomplete</a:t>
                </a:r>
                <a:r>
                  <a:rPr lang="en-US" dirty="0"/>
                  <a:t>, and</a:t>
                </a:r>
              </a:p>
              <a:p>
                <a:pPr lvl="1"/>
                <a:r>
                  <a:rPr lang="en-US" dirty="0"/>
                  <a:t>the corresponding likelihood functions are often </a:t>
                </a:r>
                <a:r>
                  <a:rPr lang="en-US" b="1" dirty="0"/>
                  <a:t>analytically intractable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“I’m interested in ABC–SMC because epidemic models are naturally defined as stochastic simulators, but their likelihoods are often analytically intractable. For realistic household transmission models, computing </a:t>
                </a:r>
                <a:r>
                  <a:rPr lang="en-US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𝑃</a:t>
                </a:r>
                <a:r>
                  <a:rPr lang="ar-AE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(𝐷∣𝜃)</a:t>
                </a:r>
                <a:r>
                  <a:rPr lang="en-US" dirty="0"/>
                  <a:t>exactly is extremely hard, whereas simulating outbreaks is straightforward.”</a:t>
                </a:r>
              </a:p>
              <a:p>
                <a:r>
                  <a:rPr lang="en-US" dirty="0"/>
                  <a:t>“ABC–SMC lets me work directly with the simulator: I propose parameters, simulate epidemic outcomes, and keep particles whose simulated household tables are close to the observed influenza data.”</a:t>
                </a:r>
              </a:p>
              <a:p>
                <a:r>
                  <a:rPr lang="en-US" dirty="0"/>
                  <a:t>“The specific application here is to replicate the influenza household analyses in the supplementary tables: to (</a:t>
                </a:r>
                <a:r>
                  <a:rPr lang="en-US" dirty="0" err="1"/>
                  <a:t>i</a:t>
                </a:r>
                <a:r>
                  <a:rPr lang="en-US" dirty="0"/>
                  <a:t>) infer community vs within-household infection probabilities and (ii) perform model comparison between simpler and more complex models.”</a:t>
                </a:r>
              </a:p>
              <a:p>
                <a:r>
                  <a:rPr lang="en-US" dirty="0"/>
                  <a:t>Then clearly state your </a:t>
                </a:r>
                <a:r>
                  <a:rPr lang="en-US" b="1" dirty="0"/>
                  <a:t>objectives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“My code should (1) simulate outbreaks under different models, (2) run ABC–SMC with a model kernel and parameter kernel, (3) estimate posterior distributions of parameters, and (4) approximate posterior model probabilities, reproducing Figures 3a–3d of the paper.”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4764-6E4D-CC9C-6E78-F619B6ED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E7D7B-E0C0-C089-53D0-AFF770327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709E4D6-FE76-9E8F-2C6A-760F5D0ECF5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ABC–SMC for model selection?</a:t>
                </a:r>
              </a:p>
              <a:p>
                <a:r>
                  <a:rPr lang="en-US" b="1" dirty="0"/>
                  <a:t>Mechanistic models in biology</a:t>
                </a:r>
                <a:endParaRPr lang="en-US" dirty="0"/>
              </a:p>
              <a:p>
                <a:pPr lvl="1"/>
                <a:r>
                  <a:rPr lang="en-US" dirty="0"/>
                  <a:t>Mathematical models encode our assumptions about complex systems (e.g. </a:t>
                </a:r>
                <a:r>
                  <a:rPr lang="en-US" dirty="0" err="1"/>
                  <a:t>signalling</a:t>
                </a:r>
                <a:r>
                  <a:rPr lang="en-US" dirty="0"/>
                  <a:t> pathways, host–parasite dynamics, epidemic spread).</a:t>
                </a:r>
              </a:p>
              <a:p>
                <a:pPr lvl="1"/>
                <a:r>
                  <a:rPr lang="en-US" dirty="0"/>
                  <a:t>We typically </a:t>
                </a:r>
                <a:r>
                  <a:rPr lang="en-US" b="1" dirty="0"/>
                  <a:t>simulate</a:t>
                </a:r>
                <a:r>
                  <a:rPr lang="en-US" dirty="0"/>
                  <a:t> these models and compare their predictions with data to test and refine them.</a:t>
                </a:r>
              </a:p>
              <a:p>
                <a:r>
                  <a:rPr lang="en-US" b="1" dirty="0"/>
                  <a:t>The core difficulty: intractable likelihoods</a:t>
                </a:r>
                <a:endParaRPr lang="en-US" dirty="0"/>
              </a:p>
              <a:p>
                <a:pPr lvl="1"/>
                <a:r>
                  <a:rPr lang="en-US" dirty="0"/>
                  <a:t>For realistic models, the likelihood ( f(D_0 \mid \theta, m) ) is often </a:t>
                </a:r>
                <a:r>
                  <a:rPr lang="en-US" b="1" dirty="0"/>
                  <a:t>not available in closed form</a:t>
                </a:r>
                <a:r>
                  <a:rPr lang="en-US" dirty="0"/>
                  <a:t> or is </a:t>
                </a:r>
                <a:r>
                  <a:rPr lang="en-US" b="1" dirty="0"/>
                  <a:t>computationally prohibitive</a:t>
                </a:r>
                <a:r>
                  <a:rPr lang="en-US" dirty="0"/>
                  <a:t> to evaluate.</a:t>
                </a:r>
              </a:p>
              <a:p>
                <a:pPr lvl="1"/>
                <a:r>
                  <a:rPr lang="en-US" dirty="0"/>
                  <a:t>Classical model selection tools (AIC, BIC, Bayes factors, etc.) all rely on having a tractable likelihood.</a:t>
                </a:r>
              </a:p>
              <a:p>
                <a:pPr lvl="1"/>
                <a:r>
                  <a:rPr lang="en-US" dirty="0"/>
                  <a:t>Data are usually </a:t>
                </a:r>
                <a:r>
                  <a:rPr lang="en-US" b="1" dirty="0"/>
                  <a:t>sparse and noisy</a:t>
                </a:r>
                <a:r>
                  <a:rPr lang="en-US" dirty="0"/>
                  <a:t>, and parameters are </a:t>
                </a:r>
                <a:r>
                  <a:rPr lang="en-US" b="1" dirty="0"/>
                  <a:t>unknown and high-dimensional</a:t>
                </a:r>
                <a:r>
                  <a:rPr lang="en-US" dirty="0"/>
                  <a:t>, which makes direct likelihood-based inference even harder.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“I’m interested in ABC–SMC because epidemic models are naturally defined as stochastic simulators, but their likelihoods are often analytically intractable. For realistic household transmission models, computing </a:t>
                </a:r>
                <a:r>
                  <a:rPr lang="en-US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𝑃</a:t>
                </a:r>
                <a:r>
                  <a:rPr lang="ar-AE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(𝐷∣𝜃)</a:t>
                </a:r>
                <a:r>
                  <a:rPr lang="en-US" dirty="0"/>
                  <a:t>exactly is extremely hard, whereas simulating outbreaks is straightforward.”</a:t>
                </a:r>
              </a:p>
              <a:p>
                <a:r>
                  <a:rPr lang="en-US" dirty="0"/>
                  <a:t>“ABC–SMC lets me work directly with the simulator: I propose parameters, simulate epidemic outcomes, and keep particles whose simulated household tables are close to the observed influenza data.”</a:t>
                </a:r>
              </a:p>
              <a:p>
                <a:r>
                  <a:rPr lang="en-US" dirty="0"/>
                  <a:t>“The specific application here is to replicate the influenza household analyses in the supplementary tables: to (</a:t>
                </a:r>
                <a:r>
                  <a:rPr lang="en-US" dirty="0" err="1"/>
                  <a:t>i</a:t>
                </a:r>
                <a:r>
                  <a:rPr lang="en-US" dirty="0"/>
                  <a:t>) infer community vs within-household infection probabilities and (ii) perform model comparison between simpler and more complex models.”</a:t>
                </a:r>
              </a:p>
              <a:p>
                <a:r>
                  <a:rPr lang="en-US" dirty="0"/>
                  <a:t>Then clearly state your </a:t>
                </a:r>
                <a:r>
                  <a:rPr lang="en-US" b="1" dirty="0"/>
                  <a:t>objectives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“My code should (1) simulate outbreaks under different models, (2) run ABC–SMC with a model kernel and parameter kernel, (3) estimate posterior distributions of parameters, and (4) approximate posterior model probabilities, reproducing Figures 3a–3d of the paper.”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A8D3B-0BA3-6C70-682B-D09421E80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5544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680C8-41B4-8BF9-4F7C-387E8E3A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17D0D-AE98-1D67-FB1C-3801FDEB3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CB1ED-D5C0-5E72-DF2F-E88ECCE3D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8C3F5-B0E6-969E-36E5-CC387AC7E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8820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AB20-0890-00F1-94DA-7C2E11C8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0C7AA-E831-901F-5973-21E82A959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EECD47C-9BAE-22DA-C648-B20B75172A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At population 1, I sample the model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US" dirty="0"/>
                  <a:t>and parameters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en-US" dirty="0"/>
                  <a:t>from their priors, simulate household tables for the two epidemics, and accept only if the Frobenius-norm distance from the observed tables is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𝜀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“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or later populations, I resample and perturb particles, gradually lowering the tolerance schedule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𝜀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to concentrate on particles that produce simulations close to the observed influenza data.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EECD47C-9BAE-22DA-C648-B20B75172A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At population 1, I sample the model </a:t>
                </a:r>
                <a:r>
                  <a:rPr lang="en-US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𝑚</a:t>
                </a:r>
                <a:r>
                  <a:rPr lang="en-US" dirty="0"/>
                  <a:t>and parameters </a:t>
                </a:r>
                <a:r>
                  <a:rPr lang="en-US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𝜃</a:t>
                </a:r>
                <a:r>
                  <a:rPr lang="en-US" dirty="0"/>
                  <a:t>from their priors, simulate household tables for the two epidemics, and accept only if the Frobenius-norm distance from the observed tables is below </a:t>
                </a:r>
                <a:r>
                  <a:rPr lang="ar-AE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𝜀_1</a:t>
                </a:r>
                <a:r>
                  <a:rPr lang="ar-AE" dirty="0"/>
                  <a:t>“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or later populations, I resample and perturb particles, gradually lowering the tolerance schedule </a:t>
                </a:r>
                <a:r>
                  <a:rPr lang="ar-AE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𝜀_𝑡</a:t>
                </a:r>
                <a:r>
                  <a:rPr lang="en-US" dirty="0"/>
                  <a:t>to concentrate on particles that produce simulations close to the observed influenza data.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E0AF3-A09B-B6B3-6A39-C95D801F7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5637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5807-A008-1720-2060-8776AB8F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72A2E-DB5B-6E9D-8E53-43379B4CC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938C6-529C-959A-08C0-5A5C8B987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BD5CF-8CD2-AB5B-D5ED-01F89720F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285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B478-4F58-1CA2-F674-5D0FE611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F45E5-F275-84EF-62DA-AB8FAE4EF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38DDDF4-9165-5938-EB0B-B4F9470AF1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I’m interested in ABC–SMC because epidemic models are naturally defined as stochastic simulators, but their likelihoods are often analytically intractable. For realistic household transmission models, computing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exactly is extremely hard, whereas simulating outbreaks is straightforward.</a:t>
                </a:r>
              </a:p>
              <a:p>
                <a:r>
                  <a:rPr lang="en-US" dirty="0"/>
                  <a:t>“ABC–SMC lets me work directly with the simulator: I propose parameters, simulate epidemic outcomes, and keep particles whose simulated household tables are close to the observed influenza data.”</a:t>
                </a:r>
              </a:p>
              <a:p>
                <a:r>
                  <a:rPr lang="en-US" dirty="0"/>
                  <a:t>“The specific application here is to replicate the influenza household analyses in the supplementary tables: to (</a:t>
                </a:r>
                <a:r>
                  <a:rPr lang="en-US" dirty="0" err="1"/>
                  <a:t>i</a:t>
                </a:r>
                <a:r>
                  <a:rPr lang="en-US" dirty="0"/>
                  <a:t>) infer community vs within-household infection probabilities and (ii) perform model comparison between simpler and more complex models.”</a:t>
                </a:r>
              </a:p>
              <a:p>
                <a:r>
                  <a:rPr lang="en-US" dirty="0"/>
                  <a:t>Then clearly state your </a:t>
                </a:r>
                <a:r>
                  <a:rPr lang="en-US" b="1" dirty="0"/>
                  <a:t>objectives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“My code should (1) simulate outbreaks under different models, (2) run ABC–SMC with a model kernel and parameter kernel, (3) estimate posterior distributions of parameters, and (4) approximate posterior model probabilities, reproducing Figures 3a–3d of the paper.”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“I’m interested in ABC–SMC because epidemic models are naturally defined as stochastic simulators, but their likelihoods are often analytically intractable. For realistic household transmission models, computing </a:t>
                </a:r>
                <a:r>
                  <a:rPr lang="en-US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𝑃</a:t>
                </a:r>
                <a:r>
                  <a:rPr lang="ar-AE" sz="1200" i="0" kern="1200">
                    <a:solidFill>
                      <a:schemeClr val="tx1"/>
                    </a:solidFill>
                    <a:latin typeface="Tw Cen MT" panose="020B0602020104020603" pitchFamily="34" charset="0"/>
                    <a:ea typeface="+mn-ea"/>
                    <a:cs typeface="+mn-cs"/>
                  </a:rPr>
                  <a:t>(𝐷∣𝜃)</a:t>
                </a:r>
                <a:r>
                  <a:rPr lang="en-US" dirty="0"/>
                  <a:t>exactly is extremely hard, whereas simulating outbreaks is straightforward.”</a:t>
                </a:r>
              </a:p>
              <a:p>
                <a:r>
                  <a:rPr lang="en-US" dirty="0"/>
                  <a:t>“ABC–SMC lets me work directly with the simulator: I propose parameters, simulate epidemic outcomes, and keep particles whose simulated household tables are close to the observed influenza data.”</a:t>
                </a:r>
              </a:p>
              <a:p>
                <a:r>
                  <a:rPr lang="en-US" dirty="0"/>
                  <a:t>“The specific application here is to replicate the influenza household analyses in the supplementary tables: to (</a:t>
                </a:r>
                <a:r>
                  <a:rPr lang="en-US" dirty="0" err="1"/>
                  <a:t>i</a:t>
                </a:r>
                <a:r>
                  <a:rPr lang="en-US" dirty="0"/>
                  <a:t>) infer community vs within-household infection probabilities and (ii) perform model comparison between simpler and more complex models.”</a:t>
                </a:r>
              </a:p>
              <a:p>
                <a:r>
                  <a:rPr lang="en-US" dirty="0"/>
                  <a:t>Then clearly state your </a:t>
                </a:r>
                <a:r>
                  <a:rPr lang="en-US" b="1" dirty="0"/>
                  <a:t>objectives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“My code should (1) simulate outbreaks under different models, (2) run ABC–SMC with a model kernel and parameter kernel, (3) estimate posterior distributions of parameters, and (4) approximate posterior model probabilities, reproducing Figures 3a–3d of the paper.”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EFE54-EA26-76F3-CF8E-DB27A1AA8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0029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CE7D-A35B-013D-51A1-19DB5356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49C23-6154-F9C9-03DF-B9A5D77F1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4C4F5-1E8F-3BE6-ADBB-E98FDF111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Supplementary Table 2 or 3</a:t>
            </a:r>
          </a:p>
          <a:p>
            <a:pPr lvl="1"/>
            <a:r>
              <a:rPr lang="en-US" dirty="0"/>
              <a:t>rows = # infected (0–5)</a:t>
            </a:r>
          </a:p>
          <a:p>
            <a:pPr lvl="1"/>
            <a:r>
              <a:rPr lang="en-US" dirty="0"/>
              <a:t>columns = household size (1–5), </a:t>
            </a:r>
          </a:p>
          <a:p>
            <a:pPr lvl="1"/>
            <a:r>
              <a:rPr lang="en-US" dirty="0"/>
              <a:t>entries = counts of households.</a:t>
            </a:r>
          </a:p>
          <a:p>
            <a:r>
              <a:rPr lang="en-US" dirty="0"/>
              <a:t>For Supplementary Table 2 (A 77–78 &amp; 80–81):</a:t>
            </a:r>
          </a:p>
          <a:p>
            <a:pPr lvl="1"/>
            <a:r>
              <a:rPr lang="en-US" dirty="0"/>
              <a:t>Model 1 (2 parameters): shared (𝑞𝑐, 𝑞ℎ)across both epidemics.</a:t>
            </a:r>
          </a:p>
          <a:p>
            <a:pPr lvl="1"/>
            <a:r>
              <a:rPr lang="en-US" dirty="0"/>
              <a:t>Model 2 (4 parameters): (𝑞𝑐1,𝑞ℎ1) for 77–78, (𝑞𝑐2,𝑞ℎ2) for 80–81.</a:t>
            </a:r>
          </a:p>
          <a:p>
            <a:r>
              <a:rPr lang="en-US" dirty="0"/>
              <a:t>For Supplementary Table 3 (B 75–76 &amp; A 78–79):</a:t>
            </a:r>
          </a:p>
          <a:p>
            <a:pPr lvl="1"/>
            <a:r>
              <a:rPr lang="en-US" dirty="0"/>
              <a:t>Model 1 (2 parameters): shared (𝑞𝑐,𝑞ℎ).</a:t>
            </a:r>
          </a:p>
          <a:p>
            <a:pPr lvl="1"/>
            <a:r>
              <a:rPr lang="en-US" dirty="0"/>
              <a:t>Model 2 (3 parameters): (𝑞𝑐1,𝑞𝑐2,𝑞ℎ)– shared within-household 𝑞ℎ, different community 𝑞𝑐​’s.</a:t>
            </a:r>
          </a:p>
          <a:p>
            <a:pPr lvl="1"/>
            <a:endParaRPr lang="en-US" dirty="0"/>
          </a:p>
          <a:p>
            <a:r>
              <a:rPr lang="en-US" b="1" dirty="0"/>
              <a:t>Table 2 (Influenza A)</a:t>
            </a:r>
            <a:endParaRPr lang="en-US" dirty="0"/>
          </a:p>
          <a:p>
            <a:r>
              <a:rPr lang="en-US" dirty="0"/>
              <a:t>Model 1: </a:t>
            </a:r>
            <a:r>
              <a:rPr lang="en-US" i="1" dirty="0"/>
              <a:t>same</a:t>
            </a:r>
            <a:r>
              <a:rPr lang="en-US" dirty="0"/>
              <a:t> community and household transmission for both A seasons.</a:t>
            </a:r>
          </a:p>
          <a:p>
            <a:r>
              <a:rPr lang="en-US" dirty="0"/>
              <a:t>Model 2: each A season gets its </a:t>
            </a:r>
            <a:r>
              <a:rPr lang="en-US" i="1" dirty="0"/>
              <a:t>own</a:t>
            </a:r>
            <a:r>
              <a:rPr lang="en-US" dirty="0"/>
              <a:t> community and household transmission parameters.</a:t>
            </a:r>
            <a:br>
              <a:rPr lang="en-US" dirty="0"/>
            </a:br>
            <a:r>
              <a:rPr lang="en-US" dirty="0"/>
              <a:t>→ Tests whether A 1977–78 vs 1980–81 behaved similarly or not.</a:t>
            </a:r>
          </a:p>
          <a:p>
            <a:r>
              <a:rPr lang="en-US" b="1" dirty="0"/>
              <a:t>Table 3 (Influenza B)</a:t>
            </a:r>
            <a:endParaRPr lang="en-US" dirty="0"/>
          </a:p>
          <a:p>
            <a:r>
              <a:rPr lang="en-US" dirty="0"/>
              <a:t>Model 1: same community and household transmission for both B outbreaks.</a:t>
            </a:r>
          </a:p>
          <a:p>
            <a:r>
              <a:rPr lang="en-US" dirty="0"/>
              <a:t>Model 2: </a:t>
            </a:r>
            <a:r>
              <a:rPr lang="en-US" b="1" dirty="0"/>
              <a:t>different community risk</a:t>
            </a:r>
            <a:r>
              <a:rPr lang="en-US" dirty="0"/>
              <a:t> for the two B outbreaks, but </a:t>
            </a:r>
            <a:r>
              <a:rPr lang="en-US" b="1" dirty="0"/>
              <a:t>same household spread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→ Tests whether only the “background exposure” changed between B 1975–76 and 1978–79, or the household dynamics too.</a:t>
            </a:r>
          </a:p>
          <a:p>
            <a:pPr lvl="1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66D45-7C8C-CB0A-CF9D-2E3B847A5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8810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1699-506B-1C87-4FB3-B4556A3A6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68D9E-5827-2F9A-7A36-94C7A9DAD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CA750-E202-2411-5C79-824011EB5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(</a:t>
            </a:r>
            <a:r>
              <a:rPr lang="en-US" dirty="0" err="1"/>
              <a:t>q_c</a:t>
            </a:r>
            <a:r>
              <a:rPr lang="en-US" dirty="0"/>
              <a:t>): probability that a </a:t>
            </a:r>
            <a:r>
              <a:rPr lang="en-US" i="1" dirty="0"/>
              <a:t>susceptible person escapes infection from the community</a:t>
            </a:r>
            <a:endParaRPr lang="en-US" dirty="0"/>
          </a:p>
          <a:p>
            <a:pPr lvl="2"/>
            <a:r>
              <a:rPr lang="en-US" dirty="0"/>
              <a:t>So (1 - </a:t>
            </a:r>
            <a:r>
              <a:rPr lang="en-US" dirty="0" err="1"/>
              <a:t>q_c</a:t>
            </a:r>
            <a:r>
              <a:rPr lang="en-US" dirty="0"/>
              <a:t>) = probability they </a:t>
            </a:r>
            <a:r>
              <a:rPr lang="en-US" i="1" dirty="0"/>
              <a:t>get</a:t>
            </a:r>
            <a:r>
              <a:rPr lang="en-US" dirty="0"/>
              <a:t> infected from outside (school, work, etc.).</a:t>
            </a:r>
          </a:p>
          <a:p>
            <a:pPr lvl="1"/>
            <a:r>
              <a:rPr lang="en-US" dirty="0"/>
              <a:t>(</a:t>
            </a:r>
            <a:r>
              <a:rPr lang="en-US" dirty="0" err="1"/>
              <a:t>q_h</a:t>
            </a:r>
            <a:r>
              <a:rPr lang="en-US" dirty="0"/>
              <a:t>): probability that a </a:t>
            </a:r>
            <a:r>
              <a:rPr lang="en-US" i="1" dirty="0"/>
              <a:t>susceptible person escapes infection from within the household</a:t>
            </a:r>
            <a:endParaRPr lang="en-US" dirty="0"/>
          </a:p>
          <a:p>
            <a:pPr lvl="2"/>
            <a:r>
              <a:rPr lang="en-US" dirty="0"/>
              <a:t>So (1 - </a:t>
            </a:r>
            <a:r>
              <a:rPr lang="en-US" dirty="0" err="1"/>
              <a:t>q_h</a:t>
            </a:r>
            <a:r>
              <a:rPr lang="en-US" dirty="0"/>
              <a:t>) = probability they get infected by an infectious household member.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4CD3-6A51-E60A-E087-1D424EF7D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3145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EA35E-17CC-B996-BF71-84296688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80CA5-24C2-3EB8-6FEA-C3D49D030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3A572-6061-4E3D-04F3-9BDA32884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Household infection model parameters</a:t>
            </a:r>
          </a:p>
          <a:p>
            <a:r>
              <a:rPr lang="en-US" b="1" dirty="0"/>
              <a:t>Two key probabilities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Final size probabilities in a household</a:t>
            </a:r>
          </a:p>
          <a:p>
            <a:r>
              <a:rPr lang="en-US" dirty="0"/>
              <a:t>Consider a household with (s) susceptible individuals.</a:t>
            </a:r>
          </a:p>
          <a:p>
            <a:r>
              <a:rPr lang="en-US" dirty="0"/>
              <a:t>Let (w_{</a:t>
            </a:r>
            <a:r>
              <a:rPr lang="en-US" dirty="0" err="1"/>
              <a:t>js</a:t>
            </a:r>
            <a:r>
              <a:rPr lang="en-US" dirty="0"/>
              <a:t>}) = </a:t>
            </a:r>
            <a:r>
              <a:rPr lang="en-US" b="1" dirty="0"/>
              <a:t>probability that exactly (j) out of these (s) people become infected by the end of the outbreak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(w_{0s} = </a:t>
            </a:r>
            <a:r>
              <a:rPr lang="en-US" dirty="0" err="1"/>
              <a:t>q_c</a:t>
            </a:r>
            <a:r>
              <a:rPr lang="en-US" dirty="0"/>
              <a:t>^{,s}): everyone escapes community infection → nobody ever gets infected.</a:t>
            </a:r>
          </a:p>
          <a:p>
            <a:pPr lvl="1"/>
            <a:r>
              <a:rPr lang="en-US" dirty="0"/>
              <a:t>For (j &gt; 0), (w_{</a:t>
            </a:r>
            <a:r>
              <a:rPr lang="en-US" dirty="0" err="1"/>
              <a:t>js</a:t>
            </a:r>
            <a:r>
              <a:rPr lang="en-US" dirty="0"/>
              <a:t>}) combines:</a:t>
            </a:r>
          </a:p>
          <a:p>
            <a:pPr lvl="2"/>
            <a:r>
              <a:rPr lang="en-US" dirty="0"/>
              <a:t>how many people get infected from the community vs. within the home,</a:t>
            </a:r>
          </a:p>
          <a:p>
            <a:pPr lvl="2"/>
            <a:r>
              <a:rPr lang="en-US" dirty="0"/>
              <a:t>and all the possible ways those (j) infections can be arranged among the (s) people</a:t>
            </a:r>
          </a:p>
          <a:p>
            <a:pPr lvl="2"/>
            <a:r>
              <a:rPr lang="en-US" dirty="0"/>
              <a:t>(this is where the binomial coefficient (\</a:t>
            </a:r>
            <a:r>
              <a:rPr lang="en-US" dirty="0" err="1"/>
              <a:t>binom</a:t>
            </a:r>
            <a:r>
              <a:rPr lang="en-US" dirty="0"/>
              <a:t>{s}{j}) and the powers of (</a:t>
            </a:r>
            <a:r>
              <a:rPr lang="en-US" dirty="0" err="1"/>
              <a:t>q_c</a:t>
            </a:r>
            <a:r>
              <a:rPr lang="en-US" dirty="0"/>
              <a:t>) and (</a:t>
            </a:r>
            <a:r>
              <a:rPr lang="en-US" dirty="0" err="1"/>
              <a:t>q_h</a:t>
            </a:r>
            <a:r>
              <a:rPr lang="en-US" dirty="0"/>
              <a:t>) come in).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D3BA9-53FB-480B-324A-261E96FC1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72193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5AECF-6BB4-1637-190A-96D4680E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C209F-2AB2-C50C-5052-A025E5B16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241A1-17DD-2C66-7070-5C7CDB8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22405-646F-E368-2D4F-636AA3894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0499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7FA0-CB94-AF14-FC7A-5D6CA3B5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0F2BF-3005-7DD7-7315-1FCE53FBE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2BAE3-0095-A075-91B0-79058BD38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store all parameter vectors in an 𝑁×</a:t>
            </a:r>
            <a:r>
              <a:rPr lang="en-US" dirty="0" err="1"/>
              <a:t>max_par</a:t>
            </a:r>
            <a:r>
              <a:rPr lang="en-US" dirty="0"/>
              <a:t> </a:t>
            </a:r>
            <a:r>
              <a:rPr lang="en-US" dirty="0" err="1"/>
              <a:t>N×max_par</a:t>
            </a:r>
            <a:r>
              <a:rPr lang="en-US" dirty="0"/>
              <a:t> matrix, padding with NAs, so the code can handle both 2-, 3-, and 4-parameter models with the same SMC function.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model kernel 𝐾𝑀 is discrete: with probability 0.7 I keep the same model as the ancestor; with probability 0.3 I flip to the other model.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parameter kernel is a uniform 𝑈(−𝜎,𝜎)U(−</a:t>
            </a:r>
            <a:r>
              <a:rPr lang="el-GR" dirty="0"/>
              <a:t>σ,σ) </a:t>
            </a:r>
            <a:r>
              <a:rPr lang="en-US" dirty="0"/>
              <a:t>around the ancestor, where 𝜎</a:t>
            </a:r>
            <a:r>
              <a:rPr lang="el-GR" dirty="0"/>
              <a:t>σ </a:t>
            </a:r>
            <a:r>
              <a:rPr lang="en-US" dirty="0"/>
              <a:t>is half the range of previous particles for that model.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importance weights use the usual ABC–SMC form: prior over (m, </a:t>
            </a:r>
            <a:r>
              <a:rPr lang="el-GR" dirty="0"/>
              <a:t>θ) </a:t>
            </a:r>
            <a:r>
              <a:rPr lang="en-US" dirty="0"/>
              <a:t>divided by a mixture of kernels over previous particles; here the prior is uniform, so the numerator is constant and only the kernel mixture in the denominator matter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68D24-8A93-1533-68DB-E01809892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1159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02679-FE63-B027-8F81-4A69A58F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AA071-54BF-C45E-38C9-E1E3E1F8F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4507B-4028-E664-A107-4A5D6029B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ECE36-83DC-6A60-6C36-BD5CF113A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6401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D4E6D-D56A-70C6-A8F7-5193B942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C7A7B-B49B-A216-D869-05506E4D3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701AD-0F57-9C3C-A860-091B73522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EFA2F-CAA8-147A-036B-2EDA56E25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60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1BCBE-B899-410A-3D16-5EDC5C28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FE3F5-12C4-5A52-C9D8-5471CDD1B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4B39F-00CF-2304-51CE-5458E5C0C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90485-FB05-7490-22E0-B9A3FDD94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36811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E82B2-1E9D-79F4-E214-7B5A3DB5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277DF-AF44-5DCA-D7A1-6F435D650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2FF80-E07C-9870-5D04-10CA1EBCE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19DFB-FE66-1755-F69D-034A45757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0368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4170-3F0C-CD42-A447-C76E876C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CAD2A-46AC-C164-43DE-8603593C7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FC7E6-A364-617F-42AD-2BA8885D9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174DC-95F7-3B67-E8D2-1BA68149A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7786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8A210-DC19-3806-372A-44A40B91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6FE5F-B46A-9C2B-DD99-714F5C518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051C6-E312-C964-6B99-5AE4C7D05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B4316-606A-5643-14E7-DB2D973F7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09915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34A3A-35EF-5782-57EC-E0BFA0D2C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08AA9-6983-A5B3-E3DF-33DEEDE25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30F5F-1FB4-5762-37E7-8246E1419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FD4F4-ED6C-4D57-94C1-577F565E5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50216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4943" y="1792605"/>
            <a:ext cx="6998405" cy="2275238"/>
          </a:xfrm>
        </p:spPr>
        <p:txBody>
          <a:bodyPr>
            <a:normAutofit fontScale="90000"/>
          </a:bodyPr>
          <a:lstStyle/>
          <a:p>
            <a:r>
              <a:rPr lang="en-US" dirty="0"/>
              <a:t>ABC–SMC for Household Epidemic Models: Replicating Influenza Transmission Inference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7808" y="5502912"/>
            <a:ext cx="4072586" cy="643489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dirty="0"/>
              <a:t>Date: 12/09/2025</a:t>
            </a:r>
          </a:p>
          <a:p>
            <a:pPr algn="r"/>
            <a:r>
              <a:rPr lang="en-US" dirty="0"/>
              <a:t>Trang Nguyen</a:t>
            </a: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AND motivation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Motivation:</a:t>
            </a:r>
          </a:p>
          <a:p>
            <a:pPr lvl="1"/>
            <a:r>
              <a:rPr lang="en-US" dirty="0"/>
              <a:t>Stochastic models can describe complex processes.</a:t>
            </a:r>
          </a:p>
          <a:p>
            <a:pPr lvl="1"/>
            <a:r>
              <a:rPr lang="en-US" dirty="0"/>
              <a:t>But several models are equally plausible =&gt; </a:t>
            </a:r>
            <a:r>
              <a:rPr lang="en-US" b="1" u="sng" dirty="0"/>
              <a:t>Model selection</a:t>
            </a:r>
          </a:p>
          <a:p>
            <a:pPr marL="228600" lvl="1" indent="0">
              <a:buNone/>
            </a:pPr>
            <a:endParaRPr lang="en-US" b="1" u="sng" dirty="0"/>
          </a:p>
          <a:p>
            <a:pPr lvl="1"/>
            <a:r>
              <a:rPr lang="en-US" b="1" u="sng" dirty="0"/>
              <a:t>Problem with model selection in epidemiology:</a:t>
            </a:r>
          </a:p>
          <a:p>
            <a:pPr lvl="2"/>
            <a:r>
              <a:rPr lang="en-US" dirty="0"/>
              <a:t>Only a subset of variables can be measured</a:t>
            </a:r>
          </a:p>
          <a:p>
            <a:pPr lvl="2"/>
            <a:r>
              <a:rPr lang="en-US" dirty="0"/>
              <a:t>Intractable number of likelihood functions</a:t>
            </a:r>
          </a:p>
          <a:p>
            <a:pPr lvl="2"/>
            <a:r>
              <a:rPr lang="en-US" dirty="0"/>
              <a:t>Observations can be noisy and incomplete</a:t>
            </a:r>
          </a:p>
          <a:p>
            <a:pPr lvl="2"/>
            <a:endParaRPr lang="en-US" dirty="0"/>
          </a:p>
          <a:p>
            <a:r>
              <a:rPr lang="en-US" b="1" u="sng" dirty="0"/>
              <a:t>ABC</a:t>
            </a:r>
          </a:p>
          <a:p>
            <a:pPr lvl="1"/>
            <a:r>
              <a:rPr lang="en-US" dirty="0"/>
              <a:t>To perform model selection</a:t>
            </a:r>
          </a:p>
          <a:p>
            <a:pPr lvl="1"/>
            <a:r>
              <a:rPr lang="en-US" dirty="0"/>
              <a:t>Setting : can simulate data from model but cannot compute the likelihood</a:t>
            </a:r>
          </a:p>
          <a:p>
            <a:pPr lvl="1"/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A63C-03A8-DF2A-115E-093A8EFE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96A6500-41D9-A9B9-3E16-9C05847F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AND motivation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0F109DF-C448-3981-C249-0D7E6FC02DD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ABC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388E93-204E-0939-7E97-DBA1408554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93F2B3-8798-6E8B-A428-53A63EF2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7D626A29-14D3-57DC-FFE1-BEDC1BD19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53486D7A-834F-989C-B085-F5E3BD2E2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B058D6D-90C0-09D6-ED71-AF0C902C2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69" y="3173662"/>
            <a:ext cx="4268335" cy="2007938"/>
          </a:xfrm>
          <a:prstGeom prst="rect">
            <a:avLst/>
          </a:prstGeom>
        </p:spPr>
      </p:pic>
      <p:pic>
        <p:nvPicPr>
          <p:cNvPr id="7" name="Picture 6" descr="A diagram of a line&#10;&#10;AI-generated content may be incorrect.">
            <a:extLst>
              <a:ext uri="{FF2B5EF4-FFF2-40B4-BE49-F238E27FC236}">
                <a16:creationId xmlns:a16="http://schemas.microsoft.com/office/drawing/2014/main" id="{03593AA1-CDCE-77FD-4CBC-12BE4384DC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661"/>
          <a:stretch>
            <a:fillRect/>
          </a:stretch>
        </p:blipFill>
        <p:spPr>
          <a:xfrm>
            <a:off x="7245545" y="2743563"/>
            <a:ext cx="4108255" cy="3507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716793-A99E-FB42-59E1-AFAC323D9E09}"/>
              </a:ext>
            </a:extLst>
          </p:cNvPr>
          <p:cNvCxnSpPr/>
          <p:nvPr/>
        </p:nvCxnSpPr>
        <p:spPr>
          <a:xfrm>
            <a:off x="5241071" y="4365104"/>
            <a:ext cx="142029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03912A-49CB-8DFA-F7CC-F0475D799010}"/>
              </a:ext>
            </a:extLst>
          </p:cNvPr>
          <p:cNvSpPr txBox="1"/>
          <p:nvPr/>
        </p:nvSpPr>
        <p:spPr>
          <a:xfrm>
            <a:off x="10196066" y="6587904"/>
            <a:ext cx="2258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Toni et al. 2009,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250119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F20CB-CFA5-C746-6B9E-C7EEB8DB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75FAD5-2E61-D27C-EE37-E05F4FE13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7561599-A7FE-553B-EB0E-6C162172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62963F6-C199-CC74-CCE8-F8F5C4C3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ABC-</a:t>
            </a:r>
            <a:r>
              <a:rPr lang="en-US" dirty="0" err="1"/>
              <a:t>sMC</a:t>
            </a:r>
            <a:r>
              <a:rPr lang="en-US" dirty="0"/>
              <a:t> idea and distance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C6C99A4-8F77-7501-0569-A035AA414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36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0489-6545-9D44-A5F6-2AA18115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94F3C22-50F7-0EB4-6B67-94755B79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ABC - SMC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A5332A-FCD9-6CEA-3346-0235F1B565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BB00F-C6F9-2E22-9BEB-DDA459780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CA4A601-D60D-F845-19E6-D811941D2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A0C9CC1A-61C9-2C4C-46FA-7FE923547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54E4ED-A7B6-D47F-B1E9-CC6DABF6E03D}"/>
              </a:ext>
            </a:extLst>
          </p:cNvPr>
          <p:cNvSpPr txBox="1"/>
          <p:nvPr/>
        </p:nvSpPr>
        <p:spPr>
          <a:xfrm>
            <a:off x="995341" y="6384220"/>
            <a:ext cx="61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Toni et al. 2009, Bioinformatics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8713B2-E007-7168-F400-F4B8B6EB1C73}"/>
              </a:ext>
            </a:extLst>
          </p:cNvPr>
          <p:cNvGrpSpPr/>
          <p:nvPr/>
        </p:nvGrpSpPr>
        <p:grpSpPr>
          <a:xfrm>
            <a:off x="652750" y="2720010"/>
            <a:ext cx="10184582" cy="2956573"/>
            <a:chOff x="866796" y="5013176"/>
            <a:chExt cx="6525348" cy="1704614"/>
          </a:xfrm>
        </p:grpSpPr>
        <p:pic>
          <p:nvPicPr>
            <p:cNvPr id="14" name="Picture 13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D61B8AD0-6D37-2849-3C59-1C9CAAB3F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44"/>
            <a:stretch>
              <a:fillRect/>
            </a:stretch>
          </p:blipFill>
          <p:spPr>
            <a:xfrm>
              <a:off x="1107530" y="5157163"/>
              <a:ext cx="2292468" cy="126071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6" name="Picture 15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4C18B90A-DC10-2587-D3CB-479023E77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0000"/>
            <a:stretch>
              <a:fillRect/>
            </a:stretch>
          </p:blipFill>
          <p:spPr>
            <a:xfrm>
              <a:off x="4804986" y="5119147"/>
              <a:ext cx="2292468" cy="133674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77D5779-4109-2070-9D50-D3F78C467671}"/>
                </a:ext>
              </a:extLst>
            </p:cNvPr>
            <p:cNvCxnSpPr/>
            <p:nvPr/>
          </p:nvCxnSpPr>
          <p:spPr>
            <a:xfrm>
              <a:off x="3384689" y="5805264"/>
              <a:ext cx="1420297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F291BC8-4535-DC0C-13D2-643E573BDC69}"/>
                </a:ext>
              </a:extLst>
            </p:cNvPr>
            <p:cNvSpPr/>
            <p:nvPr/>
          </p:nvSpPr>
          <p:spPr>
            <a:xfrm>
              <a:off x="866796" y="5013176"/>
              <a:ext cx="6525348" cy="17046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5577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E8F6-4EEE-6D9A-EE1F-E9F2B2C5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475FE5-B251-A07A-422D-98C25796E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722EC8C-FD32-21B6-2FD9-DC68B4B80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38321F6-F566-9A12-85FA-3CEF9829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3C86EB-F465-69AF-71FE-86362FB59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487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88BBA-E0C2-89E5-F9AF-B855CD9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B3AE1C3-6569-2565-1F2C-CB5953EE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0D94555-3C2F-0424-BD8F-1DA7BAF366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Data: household final-size influenza A/B data from historical epidemics.</a:t>
            </a:r>
          </a:p>
          <a:p>
            <a:r>
              <a:rPr lang="en-US" dirty="0"/>
              <a:t>Goal: infer transmission parameters and compare models for influenza outbreaks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) infer community vs within-household infection probabilities </a:t>
            </a:r>
          </a:p>
          <a:p>
            <a:pPr lvl="1"/>
            <a:r>
              <a:rPr lang="en-US" dirty="0"/>
              <a:t>ii) perform model comparison between simpler and more complex models.</a:t>
            </a:r>
          </a:p>
          <a:p>
            <a:r>
              <a:rPr lang="en-US" dirty="0"/>
              <a:t>Method: ABC–SMC</a:t>
            </a:r>
          </a:p>
          <a:p>
            <a:r>
              <a:rPr lang="en-US" dirty="0"/>
              <a:t>Replicate results of figures 3.a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 in the paper.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8D3B1A-14A1-F190-7C58-3CA14F2CD9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E5A47-73B9-9112-F714-CD800DBE9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D5E032FF-4ACD-0551-F7FA-79A220FF8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3F92A329-EFAA-4889-9BB1-982425FB6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3763942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7199992-58FE-4335-A811-6AFA96B5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the disease spread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4FCD-1979-0A98-1D8D-9D90705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3D0EC12-B9DB-0ACD-114C-D54BA30D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Data &amp; Competing Transmission Models</a:t>
            </a:r>
          </a:p>
        </p:txBody>
      </p:sp>
      <p:pic>
        <p:nvPicPr>
          <p:cNvPr id="6" name="Content Placeholder 5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6F213F93-5159-17C2-8C03-D5B3E96F6FE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827732" y="2384286"/>
            <a:ext cx="5181866" cy="382924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BBAE9C-78BD-DA7A-8687-55FF238A5D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4732"/>
          </a:xfrm>
        </p:spPr>
        <p:txBody>
          <a:bodyPr/>
          <a:lstStyle/>
          <a:p>
            <a:r>
              <a:rPr lang="en-US" dirty="0"/>
              <a:t>Goal: infer transmission parameters and compare models for influenza outbreaks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DC3EBE-38B8-7B46-D7B4-268CACC96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852D0964-3FC6-FCC7-71DA-85D41F6B3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2FCA67DE-B00F-F59A-AA83-E8CBAEC14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44089F-ED92-667E-FEB6-FB8EE9934A27}"/>
              </a:ext>
            </a:extLst>
          </p:cNvPr>
          <p:cNvSpPr txBox="1"/>
          <p:nvPr/>
        </p:nvSpPr>
        <p:spPr>
          <a:xfrm>
            <a:off x="3431704" y="6483991"/>
            <a:ext cx="61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Toni et al. 2009,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2616792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CAAE-AF23-200B-F5E0-6E7B53A3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BC108D-499C-5774-6C96-6BB95FCBA040}"/>
              </a:ext>
            </a:extLst>
          </p:cNvPr>
          <p:cNvSpPr txBox="1"/>
          <p:nvPr/>
        </p:nvSpPr>
        <p:spPr>
          <a:xfrm>
            <a:off x="262182" y="4272677"/>
            <a:ext cx="116676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rows = # infected (0–5)</a:t>
            </a:r>
          </a:p>
          <a:p>
            <a:r>
              <a:rPr lang="en-US" dirty="0"/>
              <a:t>columns = household size (1–5), </a:t>
            </a:r>
          </a:p>
          <a:p>
            <a:r>
              <a:rPr lang="en-US" dirty="0"/>
              <a:t>entries = counts of households.</a:t>
            </a:r>
          </a:p>
          <a:p>
            <a:r>
              <a:rPr lang="en-US" b="1" u="sng" dirty="0"/>
              <a:t>Table 2 (A 77–78 &amp; 80–81):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1 (2 parameters): shared (𝑞𝑐, 𝑞ℎ)across both epidemics. =&gt;: </a:t>
            </a:r>
            <a:r>
              <a:rPr lang="en-US" i="1" dirty="0"/>
              <a:t>same</a:t>
            </a:r>
            <a:r>
              <a:rPr lang="en-US" dirty="0"/>
              <a:t> community and household transmission for both  seasons.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2 (4 parameters): (𝑞𝑐1,𝑞ℎ1) for 77–78, (𝑞𝑐2,𝑞ℎ2) for 80–81. =&gt; : each season gets its </a:t>
            </a:r>
            <a:r>
              <a:rPr lang="en-US" i="1" dirty="0"/>
              <a:t>own</a:t>
            </a:r>
            <a:r>
              <a:rPr lang="en-US" dirty="0"/>
              <a:t> community and household transmission parameters.</a:t>
            </a:r>
            <a:br>
              <a:rPr lang="en-US" dirty="0"/>
            </a:b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B32FABB-2645-50FE-977F-9FFCCE79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Data &amp; Competing Transmission Models</a:t>
            </a:r>
          </a:p>
        </p:txBody>
      </p:sp>
      <p:pic>
        <p:nvPicPr>
          <p:cNvPr id="6" name="Content Placeholder 5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D7EAFC50-061E-57D4-91E1-7A8DFBA254F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rcRect b="52032"/>
          <a:stretch>
            <a:fillRect/>
          </a:stretch>
        </p:blipFill>
        <p:spPr>
          <a:xfrm>
            <a:off x="2827732" y="2384287"/>
            <a:ext cx="5181866" cy="183680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1BCDA7-3259-16EC-2FF4-92F62C8F6B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4732"/>
          </a:xfrm>
        </p:spPr>
        <p:txBody>
          <a:bodyPr/>
          <a:lstStyle/>
          <a:p>
            <a:r>
              <a:rPr lang="en-US" dirty="0"/>
              <a:t>Goal: infer transmission parameters and compare models for influenza outbreaks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59A192-942F-F928-1936-856353CE2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F6AC7E49-CAF4-7D93-49C7-FEA3509F8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4056C242-957F-22D8-8716-9D0961CBF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973975-6596-D759-96E4-E0AEBE6F934A}"/>
              </a:ext>
            </a:extLst>
          </p:cNvPr>
          <p:cNvSpPr txBox="1"/>
          <p:nvPr/>
        </p:nvSpPr>
        <p:spPr>
          <a:xfrm>
            <a:off x="7536160" y="3891743"/>
            <a:ext cx="61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Toni et al. 2009,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30766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DF8F4-0FE5-0FBF-09E0-C6318800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AD80C9F-FAE9-89BD-3827-677F06D1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Data &amp; Competing Transmission Models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7DA46AF-9265-5268-FFB4-C9D89EB840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231886"/>
            <a:ext cx="10288693" cy="4095762"/>
          </a:xfrm>
        </p:spPr>
        <p:txBody>
          <a:bodyPr>
            <a:normAutofit/>
          </a:bodyPr>
          <a:lstStyle/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b="1" u="sng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120B23-055E-2AC2-50F1-13C6E805CF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0837333" cy="424732"/>
          </a:xfrm>
        </p:spPr>
        <p:txBody>
          <a:bodyPr/>
          <a:lstStyle/>
          <a:p>
            <a:r>
              <a:rPr lang="en-US" dirty="0"/>
              <a:t>Goal: infer transmission parameters and compare models for influenza outbreaks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91DDF0-3D2A-2DF2-AD78-BE1C219A6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30941B0B-44A3-8AD0-07BE-782A5EB3F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261E40E7-0FCC-5816-DAA6-2F3A54A5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4" name="Picture 3" descr="A math formula with black text&#10;&#10;AI-generated content may be incorrect.">
            <a:extLst>
              <a:ext uri="{FF2B5EF4-FFF2-40B4-BE49-F238E27FC236}">
                <a16:creationId xmlns:a16="http://schemas.microsoft.com/office/drawing/2014/main" id="{55FDBB60-A852-AC23-E9A6-637D01DFA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2919561"/>
            <a:ext cx="5630937" cy="18373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522176-D5C3-D9F6-1E03-DD1A4C4F5DBA}"/>
              </a:ext>
            </a:extLst>
          </p:cNvPr>
          <p:cNvSpPr txBox="1"/>
          <p:nvPr/>
        </p:nvSpPr>
        <p:spPr>
          <a:xfrm>
            <a:off x="1487488" y="6529107"/>
            <a:ext cx="61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Toni et al. 2009, Bioinformatics</a:t>
            </a: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A7FC540-E7DA-BEA9-3C32-EB98504FD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69" y="3173662"/>
            <a:ext cx="4268335" cy="200793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5051EF4-FD77-99F3-51B1-3EF9EBE7B36E}"/>
              </a:ext>
            </a:extLst>
          </p:cNvPr>
          <p:cNvCxnSpPr/>
          <p:nvPr/>
        </p:nvCxnSpPr>
        <p:spPr>
          <a:xfrm flipV="1">
            <a:off x="4007768" y="3645024"/>
            <a:ext cx="3528392" cy="5326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856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F3A7-A1FC-5833-7020-F9CB93E8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1F27D1D-5E9C-04D2-EDC1-42A354E84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D0BB68F-0E65-BD49-4EDF-D37F3C1CC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8E49AB6-C000-2FB0-CB92-14AD3D8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the code project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E756547-64A3-F208-3FD2-733F44CC7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337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543CA-7EED-22CE-90FC-5B1F249C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0C94596-641E-C48A-E55E-C2E17CB8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LOGICS (1/2)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5459A94-8463-4E7A-21D4-3B9E615D18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231886"/>
            <a:ext cx="6699487" cy="4095762"/>
          </a:xfrm>
        </p:spPr>
        <p:txBody>
          <a:bodyPr>
            <a:normAutofit/>
          </a:bodyPr>
          <a:lstStyle/>
          <a:p>
            <a:pPr marL="228600" lvl="1" indent="0">
              <a:buNone/>
            </a:pPr>
            <a:r>
              <a:rPr lang="en-US" b="1" u="sng" dirty="0"/>
              <a:t>Epidemic parameters</a:t>
            </a:r>
          </a:p>
          <a:p>
            <a:pPr lvl="1"/>
            <a:r>
              <a:rPr lang="en-US" dirty="0" err="1"/>
              <a:t>w_js</a:t>
            </a:r>
            <a:r>
              <a:rPr lang="en-US" dirty="0"/>
              <a:t>(j, s, </a:t>
            </a:r>
            <a:r>
              <a:rPr lang="en-US" dirty="0" err="1"/>
              <a:t>q_c</a:t>
            </a:r>
            <a:r>
              <a:rPr lang="en-US" dirty="0"/>
              <a:t>, </a:t>
            </a:r>
            <a:r>
              <a:rPr lang="en-US" dirty="0" err="1"/>
              <a:t>q_h</a:t>
            </a:r>
            <a:r>
              <a:rPr lang="en-US" dirty="0"/>
              <a:t>) – recursively computes </a:t>
            </a:r>
            <a:r>
              <a:rPr lang="en-US" dirty="0" err="1"/>
              <a:t>Pr</a:t>
            </a:r>
            <a:r>
              <a:rPr lang="en-US" dirty="0"/>
              <a:t>⁡(j infected ∣ s </a:t>
            </a:r>
            <a:r>
              <a:rPr lang="en-US" dirty="0" err="1"/>
              <a:t>susceptibles</a:t>
            </a:r>
            <a:r>
              <a:rPr lang="en-US" dirty="0"/>
              <a:t>).</a:t>
            </a:r>
          </a:p>
          <a:p>
            <a:pPr lvl="1"/>
            <a:r>
              <a:rPr lang="en-US" dirty="0" err="1"/>
              <a:t>simulate_outbreak</a:t>
            </a:r>
            <a:r>
              <a:rPr lang="en-US" dirty="0"/>
              <a:t>(</a:t>
            </a:r>
            <a:r>
              <a:rPr lang="en-US" dirty="0" err="1"/>
              <a:t>q_c</a:t>
            </a:r>
            <a:r>
              <a:rPr lang="en-US" dirty="0"/>
              <a:t>, </a:t>
            </a:r>
            <a:r>
              <a:rPr lang="en-US" dirty="0" err="1"/>
              <a:t>q_h</a:t>
            </a:r>
            <a:r>
              <a:rPr lang="en-US" dirty="0"/>
              <a:t>, </a:t>
            </a:r>
            <a:r>
              <a:rPr lang="en-US" dirty="0" err="1"/>
              <a:t>D_obs</a:t>
            </a:r>
            <a:r>
              <a:rPr lang="en-US" dirty="0"/>
              <a:t>) – simulates one outbreak table matching the column counts of D obs.</a:t>
            </a:r>
          </a:p>
          <a:p>
            <a:pPr lvl="1"/>
            <a:r>
              <a:rPr lang="en-US" dirty="0" err="1"/>
              <a:t>simulate_data</a:t>
            </a:r>
            <a:r>
              <a:rPr lang="en-US" dirty="0"/>
              <a:t>(theta, m, D0, </a:t>
            </a:r>
            <a:r>
              <a:rPr lang="en-US" dirty="0" err="1"/>
              <a:t>n_params_by_model</a:t>
            </a:r>
            <a:r>
              <a:rPr lang="en-US" dirty="0"/>
              <a:t>) – applies </a:t>
            </a:r>
            <a:r>
              <a:rPr lang="en-US" dirty="0" err="1"/>
              <a:t>simulate_outbreak</a:t>
            </a:r>
            <a:r>
              <a:rPr lang="en-US" dirty="0"/>
              <a:t> to both epidemics under the chosen model.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07736B-EE45-0E33-9A50-C54315F17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0615B4-DE43-0524-7EB2-5DAE1D004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E91A4D68-F9AE-D96A-71AE-7A3659359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9BC40318-8B2D-9A28-586B-45484477E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6" name="Picture 5" descr="A math formula with black text&#10;&#10;AI-generated content may be incorrect.">
            <a:extLst>
              <a:ext uri="{FF2B5EF4-FFF2-40B4-BE49-F238E27FC236}">
                <a16:creationId xmlns:a16="http://schemas.microsoft.com/office/drawing/2014/main" id="{E395FA00-6D23-0DB1-25A8-F19703FF9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531"/>
          <a:stretch>
            <a:fillRect/>
          </a:stretch>
        </p:blipFill>
        <p:spPr>
          <a:xfrm>
            <a:off x="572732" y="4357376"/>
            <a:ext cx="6426191" cy="1079207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905ADD9-879B-0D85-C14F-0AC601A1E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152" y="2420252"/>
            <a:ext cx="4026107" cy="38736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D8C7B6-AC60-BA14-30AC-4966BFA4EFE9}"/>
              </a:ext>
            </a:extLst>
          </p:cNvPr>
          <p:cNvSpPr txBox="1"/>
          <p:nvPr/>
        </p:nvSpPr>
        <p:spPr>
          <a:xfrm>
            <a:off x="995341" y="6384220"/>
            <a:ext cx="61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Toni et al. 2009,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1289884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741E-3321-C7B0-590C-8B7B6CB2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D6C1D35-5023-0903-D4DE-24D26CC6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LOGICS (2/2)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B1709B3-1D7B-A172-4EE8-D694637049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231886"/>
            <a:ext cx="10288693" cy="4095762"/>
          </a:xfrm>
        </p:spPr>
        <p:txBody>
          <a:bodyPr>
            <a:normAutofit/>
          </a:bodyPr>
          <a:lstStyle/>
          <a:p>
            <a:pPr marL="228600" lvl="1" indent="0">
              <a:buNone/>
            </a:pPr>
            <a:r>
              <a:rPr lang="en-US" b="1" u="sng" dirty="0"/>
              <a:t>ABC–SMC:</a:t>
            </a:r>
          </a:p>
          <a:p>
            <a:pPr lvl="1"/>
            <a:r>
              <a:rPr lang="en-US" dirty="0" err="1"/>
              <a:t>prior_model</a:t>
            </a:r>
            <a:r>
              <a:rPr lang="en-US" dirty="0"/>
              <a:t>(M) – draws model index uniformly from {1,…,M}.</a:t>
            </a:r>
          </a:p>
          <a:p>
            <a:pPr lvl="1"/>
            <a:r>
              <a:rPr lang="en-US" dirty="0" err="1"/>
              <a:t>prior_theta_parameters</a:t>
            </a:r>
            <a:r>
              <a:rPr lang="en-US" dirty="0"/>
              <a:t>(m, </a:t>
            </a:r>
            <a:r>
              <a:rPr lang="en-US" dirty="0" err="1"/>
              <a:t>n_params_by_model</a:t>
            </a:r>
            <a:r>
              <a:rPr lang="en-US" dirty="0"/>
              <a:t>) – draws parameters </a:t>
            </a:r>
            <a:r>
              <a:rPr lang="en-US" dirty="0" err="1"/>
              <a:t>i.i.d.</a:t>
            </a:r>
            <a:r>
              <a:rPr lang="en-US" dirty="0"/>
              <a:t> Uniform(0,1) with the correct dimension for model m.</a:t>
            </a:r>
          </a:p>
          <a:p>
            <a:pPr lvl="1"/>
            <a:r>
              <a:rPr lang="en-US" dirty="0" err="1"/>
              <a:t>perturb_theta</a:t>
            </a:r>
            <a:r>
              <a:rPr lang="en-US" dirty="0"/>
              <a:t>(</a:t>
            </a:r>
            <a:r>
              <a:rPr lang="en-US" dirty="0" err="1"/>
              <a:t>theta_star</a:t>
            </a:r>
            <a:r>
              <a:rPr lang="en-US" dirty="0"/>
              <a:t>, </a:t>
            </a:r>
            <a:r>
              <a:rPr lang="en-US" dirty="0" err="1"/>
              <a:t>theta_prev_mat_model</a:t>
            </a:r>
            <a:r>
              <a:rPr lang="en-US" dirty="0"/>
              <a:t>) – uniform kernel around previous particles for that model, truncated to [0,1].</a:t>
            </a:r>
          </a:p>
          <a:p>
            <a:pPr lvl="1"/>
            <a:r>
              <a:rPr lang="en-US" dirty="0" err="1"/>
              <a:t>kernel_theta_density</a:t>
            </a:r>
            <a:r>
              <a:rPr lang="en-US" dirty="0"/>
              <a:t>(</a:t>
            </a:r>
            <a:r>
              <a:rPr lang="en-US" dirty="0" err="1"/>
              <a:t>theta_new</a:t>
            </a:r>
            <a:r>
              <a:rPr lang="en-US" dirty="0"/>
              <a:t>, </a:t>
            </a:r>
            <a:r>
              <a:rPr lang="en-US" dirty="0" err="1"/>
              <a:t>theta_prev</a:t>
            </a:r>
            <a:r>
              <a:rPr lang="en-US" dirty="0"/>
              <a:t>, </a:t>
            </a:r>
            <a:r>
              <a:rPr lang="en-US" dirty="0" err="1"/>
              <a:t>theta_prev_mat_model</a:t>
            </a:r>
            <a:r>
              <a:rPr lang="en-US" dirty="0"/>
              <a:t>) – evaluates the density of that kernel (for importance weights).</a:t>
            </a:r>
          </a:p>
          <a:p>
            <a:pPr lvl="1"/>
            <a:r>
              <a:rPr lang="en-US" dirty="0" err="1"/>
              <a:t>abc_smc_influenza</a:t>
            </a:r>
            <a:r>
              <a:rPr lang="en-US" dirty="0"/>
              <a:t>(D0, </a:t>
            </a:r>
            <a:r>
              <a:rPr lang="en-US" dirty="0" err="1"/>
              <a:t>epsilon_schedule</a:t>
            </a:r>
            <a:r>
              <a:rPr lang="en-US" dirty="0"/>
              <a:t>, </a:t>
            </a:r>
            <a:r>
              <a:rPr lang="en-US" dirty="0" err="1"/>
              <a:t>n_params_by_model</a:t>
            </a:r>
            <a:r>
              <a:rPr lang="en-US" dirty="0"/>
              <a:t>, …) – main driver; returns models, thetas, weights.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FBA7DF-845F-9408-3E31-5B0BEDB188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98CFF-FF7E-0456-B752-C5B951421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111D7982-67C4-AC54-738B-FE4DD9890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364256DB-B0A7-F42E-D14C-BC047DC03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9859D6E-2BFA-F659-D9C8-0CFE01A83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506" y="5199773"/>
            <a:ext cx="7808318" cy="10548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4AAE51-48F8-4E51-96A2-5C1482FFDAD9}"/>
              </a:ext>
            </a:extLst>
          </p:cNvPr>
          <p:cNvSpPr txBox="1"/>
          <p:nvPr/>
        </p:nvSpPr>
        <p:spPr>
          <a:xfrm>
            <a:off x="995341" y="6384220"/>
            <a:ext cx="61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Toni et al. 2009,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2140294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B544-64C5-3FAE-2833-2869B106B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E258EEC-A8C8-1A99-FDB3-27CB96BA2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55BCA2-49E2-399B-AB98-A2D9B883E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2179DF2-367B-0640-CE85-51CD4DE3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5BD936-081F-AB44-E254-EF72F86A6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09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5419-3E7D-9887-66CA-E61F813C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148885-4783-CD52-64E7-18336DF3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Expected results from the paper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4396C6-241F-F46A-6535-73FD1795C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8F9CE9D6-5A27-ABA2-E51B-F9E317594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C42F92EA-6A3C-0FB8-CCB0-92AAF2CA4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1026" name="Picture 2" descr="(a) ABC SMC posterior distributions for parameters inferred for a four-parameter model from the data in Supplementary Table 2. Marginal posterior distributions of parameters qc1, qh1 (red) and qc2, qh2 (blue). (b) Approximation of a posterior marginal distribution P(m|D0). Model 1 is a two-parameter and model 2 a four-parameter model (1). All intermediate populations are shown in Supplementary Figure 1a. (c) The same as (a) but here the data used is from Supplementary Table 3. (d) Estimation of a posterior marginal distribution. Model 1 is a two-parameter and model 2 a three-parameter model (1). All intermediate populations are shown in Supplementary Figure 1b.">
            <a:extLst>
              <a:ext uri="{FF2B5EF4-FFF2-40B4-BE49-F238E27FC236}">
                <a16:creationId xmlns:a16="http://schemas.microsoft.com/office/drawing/2014/main" id="{55D6F16B-F259-E7AA-94EA-64C9DD653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89" y="1809029"/>
            <a:ext cx="4482082" cy="482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53F530CD-2903-744A-3E30-3BE75D5D3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613" y="2231886"/>
            <a:ext cx="2654436" cy="4635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AC0207-80DF-D10E-9763-286708ED0FB3}"/>
              </a:ext>
            </a:extLst>
          </p:cNvPr>
          <p:cNvSpPr txBox="1"/>
          <p:nvPr/>
        </p:nvSpPr>
        <p:spPr>
          <a:xfrm>
            <a:off x="10128448" y="6440506"/>
            <a:ext cx="61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Toni et al. 2009,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1770280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3E21-D99A-AA05-839F-3E080E6B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33CA2E5-B891-D236-667C-3C97BCC7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table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78AC23-4028-7BFD-5BA4-3AB33BF50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F5A287A7-1992-B482-189D-EB3BB1C0A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540C29D6-972F-9FC6-4DB3-32ECD2EC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F374054-C50D-3A4D-2600-1238DA446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5" y="530352"/>
            <a:ext cx="6418784" cy="6327648"/>
          </a:xfrm>
          <a:prstGeom prst="rect">
            <a:avLst/>
          </a:prstGeom>
        </p:spPr>
      </p:pic>
      <p:pic>
        <p:nvPicPr>
          <p:cNvPr id="9" name="Picture 8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CACE1674-827B-D831-7706-42EAB3493E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445" b="15351"/>
          <a:stretch>
            <a:fillRect/>
          </a:stretch>
        </p:blipFill>
        <p:spPr>
          <a:xfrm>
            <a:off x="7115646" y="1452721"/>
            <a:ext cx="4814466" cy="5069999"/>
          </a:xfrm>
          <a:prstGeom prst="rect">
            <a:avLst/>
          </a:prstGeom>
        </p:spPr>
      </p:pic>
      <p:pic>
        <p:nvPicPr>
          <p:cNvPr id="2" name="Picture 2" descr="(a) ABC SMC posterior distributions for parameters inferred for a four-parameter model from the data in Supplementary Table 2. Marginal posterior distributions of parameters qc1, qh1 (red) and qc2, qh2 (blue). (b) Approximation of a posterior marginal distribution P(m|D0). Model 1 is a two-parameter and model 2 a four-parameter model (1). All intermediate populations are shown in Supplementary Figure 1a. (c) The same as (a) but here the data used is from Supplementary Table 3. (d) Estimation of a posterior marginal distribution. Model 1 is a two-parameter and model 2 a three-parameter model (1). All intermediate populations are shown in Supplementary Figure 1b.">
            <a:extLst>
              <a:ext uri="{FF2B5EF4-FFF2-40B4-BE49-F238E27FC236}">
                <a16:creationId xmlns:a16="http://schemas.microsoft.com/office/drawing/2014/main" id="{2E4C92ED-77DC-2B6C-125D-14F15BBD07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36"/>
          <a:stretch>
            <a:fillRect/>
          </a:stretch>
        </p:blipFill>
        <p:spPr bwMode="auto">
          <a:xfrm>
            <a:off x="7281838" y="3694176"/>
            <a:ext cx="4482082" cy="2484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58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0D98-A02E-1F3C-907C-ACE7BDF3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B9B8937-88A6-8F51-7A8A-7B31F7ED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table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214E8D-941B-F4A4-474F-DA4E9423B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C6E8B50C-9162-3793-CC86-495A9EA65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95A890EC-19ED-B0C1-7127-7BEA37999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D74A983-0DF5-FEF9-C4D1-29D5B77563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667" b="14444"/>
          <a:stretch>
            <a:fillRect/>
          </a:stretch>
        </p:blipFill>
        <p:spPr>
          <a:xfrm>
            <a:off x="7464152" y="1143000"/>
            <a:ext cx="4572000" cy="4724400"/>
          </a:xfrm>
          <a:prstGeom prst="rect">
            <a:avLst/>
          </a:prstGeom>
        </p:spPr>
      </p:pic>
      <p:pic>
        <p:nvPicPr>
          <p:cNvPr id="7" name="Picture 6" descr="A graph with a green and orange rectangle&#10;&#10;AI-generated content may be incorrect.">
            <a:extLst>
              <a:ext uri="{FF2B5EF4-FFF2-40B4-BE49-F238E27FC236}">
                <a16:creationId xmlns:a16="http://schemas.microsoft.com/office/drawing/2014/main" id="{E0C3B68B-999D-0F32-13B4-61053DB7E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74" y="696984"/>
            <a:ext cx="6516730" cy="6101009"/>
          </a:xfrm>
          <a:prstGeom prst="rect">
            <a:avLst/>
          </a:prstGeom>
        </p:spPr>
      </p:pic>
      <p:pic>
        <p:nvPicPr>
          <p:cNvPr id="2" name="Picture 2" descr="(a) ABC SMC posterior distributions for parameters inferred for a four-parameter model from the data in Supplementary Table 2. Marginal posterior distributions of parameters qc1, qh1 (red) and qc2, qh2 (blue). (b) Approximation of a posterior marginal distribution P(m|D0). Model 1 is a two-parameter and model 2 a four-parameter model (1). All intermediate populations are shown in Supplementary Figure 1a. (c) The same as (a) but here the data used is from Supplementary Table 3. (d) Estimation of a posterior marginal distribution. Model 1 is a two-parameter and model 2 a three-parameter model (1). All intermediate populations are shown in Supplementary Figure 1b.">
            <a:extLst>
              <a:ext uri="{FF2B5EF4-FFF2-40B4-BE49-F238E27FC236}">
                <a16:creationId xmlns:a16="http://schemas.microsoft.com/office/drawing/2014/main" id="{B2BAFEC7-F1E9-6CA6-252F-BD71428DB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63"/>
          <a:stretch>
            <a:fillRect/>
          </a:stretch>
        </p:blipFill>
        <p:spPr bwMode="auto">
          <a:xfrm>
            <a:off x="7248128" y="4331818"/>
            <a:ext cx="4482082" cy="234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94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12F56-6298-223F-E18B-DFE67999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FC7032A-C074-FE1C-7E46-751F5946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5A68C2-51D7-6824-A1A8-55A588350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F58AA7C-4AE1-A020-4ABA-310C338E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direction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D777C5-360F-3CB6-C420-EC41E6AAF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01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1D35-1E30-1991-A9FA-83ECC6A35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and future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5C138-523C-8D53-7338-8E605AAEF5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Numerical issues:</a:t>
            </a:r>
          </a:p>
          <a:p>
            <a:pPr lvl="1"/>
            <a:r>
              <a:rPr lang="en-US" dirty="0"/>
              <a:t>needed clipping in </a:t>
            </a:r>
            <a:r>
              <a:rPr lang="en-US" dirty="0" err="1"/>
              <a:t>w_js</a:t>
            </a:r>
            <a:r>
              <a:rPr lang="en-US" dirty="0"/>
              <a:t> and </a:t>
            </a:r>
            <a:r>
              <a:rPr lang="en-US" dirty="0" err="1"/>
              <a:t>simulate_outbreak</a:t>
            </a:r>
            <a:r>
              <a:rPr lang="en-US" dirty="0"/>
              <a:t> to prevent tiny negative probabilities from recursion and floating-point errors.</a:t>
            </a:r>
          </a:p>
          <a:p>
            <a:r>
              <a:rPr lang="en-US" b="1" u="sng" dirty="0"/>
              <a:t>Algorithmic:</a:t>
            </a:r>
          </a:p>
          <a:p>
            <a:pPr lvl="1"/>
            <a:r>
              <a:rPr lang="en-US" dirty="0"/>
              <a:t>sensitivity to the choice of tolerance schedule and N;</a:t>
            </a:r>
          </a:p>
          <a:p>
            <a:pPr marL="228600" lvl="1" indent="0">
              <a:buNone/>
            </a:pPr>
            <a:endParaRPr lang="en-US" dirty="0"/>
          </a:p>
          <a:p>
            <a:r>
              <a:rPr lang="en-US" b="1" u="sng" dirty="0"/>
              <a:t>Future work</a:t>
            </a:r>
            <a:r>
              <a:rPr lang="en-US" dirty="0"/>
              <a:t>:</a:t>
            </a:r>
          </a:p>
          <a:p>
            <a:r>
              <a:rPr lang="en-US" dirty="0"/>
              <a:t>more systematic tuning of epsilon	and N;</a:t>
            </a:r>
          </a:p>
          <a:p>
            <a:r>
              <a:rPr lang="en-US" dirty="0"/>
              <a:t>more formal unit tests + refactoring to make </a:t>
            </a:r>
            <a:r>
              <a:rPr lang="en-US" dirty="0" err="1"/>
              <a:t>abc_smc_influenza</a:t>
            </a:r>
            <a:r>
              <a:rPr lang="en-US" dirty="0"/>
              <a:t> fully generic for other epidemic models.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1FFFDFF-185C-BA34-9435-2E60D32816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94488-49FC-D00D-C6D7-25C5449BF8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87CF8-0493-82BE-32AD-3416B2BC4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6624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DB3A-6156-A283-7447-4283F4CF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57F8139-35A9-661F-8B13-0FBD62A9B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12C35E-3099-0550-514E-594AB097B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8A00591-A093-747A-D44F-374126086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7137337-15D1-8C06-E5D1-431B357E1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2549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839</TotalTime>
  <Words>1878</Words>
  <Application>Microsoft Office PowerPoint</Application>
  <PresentationFormat>Widescreen</PresentationFormat>
  <Paragraphs>188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Cambria Math</vt:lpstr>
      <vt:lpstr>Tw Cen MT</vt:lpstr>
      <vt:lpstr>Tw Cen MT Condensed</vt:lpstr>
      <vt:lpstr>Wingdings</vt:lpstr>
      <vt:lpstr>Wingdings 3</vt:lpstr>
      <vt:lpstr>ModernClassicBlock-3</vt:lpstr>
      <vt:lpstr>ABC–SMC for Household Epidemic Models: Replicating Influenza Transmission Inference</vt:lpstr>
      <vt:lpstr>Context AND motivation</vt:lpstr>
      <vt:lpstr>Context AND motivation</vt:lpstr>
      <vt:lpstr>ABC-sMC idea and distance</vt:lpstr>
      <vt:lpstr>ABC - SMC</vt:lpstr>
      <vt:lpstr>goal</vt:lpstr>
      <vt:lpstr>goal</vt:lpstr>
      <vt:lpstr>Models of the disease spread</vt:lpstr>
      <vt:lpstr>Household Data &amp; Competing Transmission Models</vt:lpstr>
      <vt:lpstr>Household Data &amp; Competing Transmission Models</vt:lpstr>
      <vt:lpstr>Household Data &amp; Competing Transmission Models</vt:lpstr>
      <vt:lpstr>Structure of the code project</vt:lpstr>
      <vt:lpstr>CODING LOGICS (1/2)</vt:lpstr>
      <vt:lpstr>CODING LOGICS (2/2)</vt:lpstr>
      <vt:lpstr>RESulTS</vt:lpstr>
      <vt:lpstr>Expected results from the paper</vt:lpstr>
      <vt:lpstr>Supplementary table 2</vt:lpstr>
      <vt:lpstr>Supplementary table 2</vt:lpstr>
      <vt:lpstr>Limitations and future direction</vt:lpstr>
      <vt:lpstr>Limitation and future direction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Trang Thuy</dc:creator>
  <cp:lastModifiedBy>Nguyen, Trang Thuy</cp:lastModifiedBy>
  <cp:revision>9</cp:revision>
  <dcterms:created xsi:type="dcterms:W3CDTF">2025-12-09T02:33:35Z</dcterms:created>
  <dcterms:modified xsi:type="dcterms:W3CDTF">2025-12-09T18:52:11Z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